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8" r:id="rId6"/>
    <p:sldId id="259" r:id="rId7"/>
    <p:sldId id="260" r:id="rId8"/>
    <p:sldId id="263" r:id="rId9"/>
    <p:sldId id="265" r:id="rId10"/>
    <p:sldId id="269" r:id="rId11"/>
    <p:sldId id="268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390650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个人财务记账系统项目进展汇报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13360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7" name="文本框 6"/>
          <p:cNvSpPr txBox="1"/>
          <p:nvPr/>
        </p:nvSpPr>
        <p:spPr>
          <a:xfrm>
            <a:off x="571500" y="2878455"/>
            <a:ext cx="3573145" cy="1028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汇报人：</a:t>
            </a:r>
            <a:br>
              <a:rPr lang="zh-CN" altLang="en-US"/>
            </a:br>
            <a:r>
              <a:rPr lang="zh-CN" altLang="en-US"/>
              <a:t>曾昭祥、陈伟</a:t>
            </a:r>
            <a:r>
              <a:rPr lang="zh-CN" altLang="en-US"/>
              <a:t>栋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项目当前进展概述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115570" y="520065"/>
            <a:ext cx="8001000" cy="43243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2000" b="1" dirty="0"/>
              <a:t>个人财务记账系统</a:t>
            </a:r>
            <a:endParaRPr lang="zh-CN" altLang="en-US" sz="20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115570" y="1376680"/>
            <a:ext cx="3378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原规划的核心功能：</a:t>
            </a:r>
            <a:endParaRPr lang="zh-CN" altLang="en-US"/>
          </a:p>
        </p:txBody>
      </p:sp>
      <p:graphicFrame>
        <p:nvGraphicFramePr>
          <p:cNvPr id="16" name="表格 15"/>
          <p:cNvGraphicFramePr/>
          <p:nvPr/>
        </p:nvGraphicFramePr>
        <p:xfrm>
          <a:off x="257810" y="1883410"/>
          <a:ext cx="867156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2535"/>
                <a:gridCol w="4406265"/>
                <a:gridCol w="30327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功能模块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功能描述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用户需求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快速记账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支持收入、支出、转账等多种交易类型的快速录入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加快记账</a:t>
                      </a:r>
                      <a:r>
                        <a:rPr lang="zh-CN" altLang="en-US" sz="1600"/>
                        <a:t>速度，快速记录每笔收支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数据可视化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收支趋势、分类占比等图表展示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直观了解消费结构和趋势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一键导入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支持微信账单</a:t>
                      </a:r>
                      <a:r>
                        <a:rPr lang="en-US" altLang="zh-CN" sz="1600"/>
                        <a:t>CSV/XLSX</a:t>
                      </a:r>
                      <a:r>
                        <a:rPr lang="zh-CN" altLang="en-US" sz="1600"/>
                        <a:t>格式</a:t>
                      </a:r>
                      <a:r>
                        <a:rPr lang="zh-CN" altLang="en-US" sz="1600"/>
                        <a:t>一键导入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避免逐条补录，提升效率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预算</a:t>
                      </a:r>
                      <a:r>
                        <a:rPr lang="zh-CN" altLang="en-US" sz="1600"/>
                        <a:t>管理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月度/年度预算设置与</a:t>
                      </a:r>
                      <a:r>
                        <a:rPr lang="zh-CN" altLang="en-US" sz="1600"/>
                        <a:t>预警监控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在"超支前"预警，加强理财意识</a:t>
                      </a:r>
                      <a:endParaRPr lang="zh-CN" alt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安全</a:t>
                      </a:r>
                      <a:r>
                        <a:rPr lang="zh-CN" altLang="en-US" sz="1600"/>
                        <a:t>认证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JWT</a:t>
                      </a:r>
                      <a:r>
                        <a:rPr lang="zh-CN" altLang="en-US" sz="1600"/>
                        <a:t>认证</a:t>
                      </a:r>
                      <a:endParaRPr lang="zh-CN" alt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保证用户数据安全可靠</a:t>
                      </a:r>
                      <a:endParaRPr lang="zh-CN" alt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0025" y="53975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400" b="1" dirty="0"/>
              <a:t>目前进展：</a:t>
            </a:r>
            <a:endParaRPr lang="zh-CN" altLang="en-US" sz="2400" b="1" dirty="0"/>
          </a:p>
        </p:txBody>
      </p:sp>
      <p:sp>
        <p:nvSpPr>
          <p:cNvPr id="11" name="Text 7"/>
          <p:cNvSpPr/>
          <p:nvPr/>
        </p:nvSpPr>
        <p:spPr>
          <a:xfrm>
            <a:off x="2867025" y="230505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endParaRPr lang="en-US" sz="1200" dirty="0"/>
          </a:p>
        </p:txBody>
      </p:sp>
      <p:sp>
        <p:nvSpPr>
          <p:cNvPr id="26" name="文本框 25"/>
          <p:cNvSpPr txBox="1"/>
          <p:nvPr/>
        </p:nvSpPr>
        <p:spPr>
          <a:xfrm>
            <a:off x="200025" y="727075"/>
            <a:ext cx="9026525" cy="4623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" b="1"/>
              <a:t>1.完成页面开发</a:t>
            </a:r>
            <a:endParaRPr lang="zh-CN" altLang="en-US" sz="1400" b="1"/>
          </a:p>
          <a:p>
            <a:r>
              <a:rPr lang="zh-CN" altLang="en-US" sz="1400"/>
              <a:t>设计并完成仪表盘、交易记录、账户管理等主要功能页面，基本实现项目核心功能。</a:t>
            </a:r>
            <a:endParaRPr lang="zh-CN" altLang="en-US" sz="1400"/>
          </a:p>
          <a:p>
            <a:endParaRPr lang="en-US" altLang="zh-CN" sz="1400"/>
          </a:p>
          <a:p>
            <a:r>
              <a:rPr lang="zh-CN" altLang="en-US" sz="1400" b="1"/>
              <a:t>2.接口对接实现</a:t>
            </a:r>
            <a:endParaRPr lang="en-US" altLang="zh-CN" sz="1400" b="1"/>
          </a:p>
          <a:p>
            <a:r>
              <a:rPr lang="zh-CN" altLang="en-US" sz="1400"/>
              <a:t>通过</a:t>
            </a:r>
            <a:r>
              <a:rPr lang="en-US" altLang="zh-CN" sz="1400"/>
              <a:t>API</a:t>
            </a:r>
            <a:r>
              <a:rPr lang="zh-CN" altLang="en-US" sz="1400"/>
              <a:t>设计完成前后端接口对接，实现数据请求与响应的稳定通信。</a:t>
            </a:r>
            <a:endParaRPr lang="zh-CN" altLang="en-US" sz="1400"/>
          </a:p>
          <a:p>
            <a:endParaRPr lang="en-US" altLang="zh-CN" sz="1400"/>
          </a:p>
          <a:p>
            <a:r>
              <a:rPr lang="zh-CN" altLang="en-US" sz="1400" b="1"/>
              <a:t>3.数据动态渲染</a:t>
            </a:r>
            <a:endParaRPr lang="en-US" altLang="zh-CN" sz="1400" b="1"/>
          </a:p>
          <a:p>
            <a:r>
              <a:rPr lang="zh-CN" altLang="en-US" sz="1400"/>
              <a:t>基于接口数据实现实时渲染。</a:t>
            </a:r>
            <a:endParaRPr lang="zh-CN" altLang="en-US" sz="1400"/>
          </a:p>
          <a:p>
            <a:endParaRPr lang="en-US" altLang="zh-CN" sz="1400"/>
          </a:p>
          <a:p>
            <a:r>
              <a:rPr lang="zh-CN" altLang="en-US" sz="1400" b="1"/>
              <a:t>4.集成</a:t>
            </a:r>
            <a:r>
              <a:rPr lang="en-US" altLang="zh-CN" sz="1400" b="1"/>
              <a:t>ECharts</a:t>
            </a:r>
            <a:r>
              <a:rPr lang="zh-CN" altLang="en-US" sz="1400" b="1"/>
              <a:t>图表</a:t>
            </a:r>
            <a:endParaRPr lang="en-US" altLang="zh-CN" sz="1400" b="1"/>
          </a:p>
          <a:p>
            <a:r>
              <a:rPr lang="zh-CN" altLang="en-US" sz="1400"/>
              <a:t>引入</a:t>
            </a:r>
            <a:r>
              <a:rPr lang="en-US" altLang="zh-CN" sz="1400"/>
              <a:t>ECharts</a:t>
            </a:r>
            <a:r>
              <a:rPr lang="zh-CN" altLang="en-US" sz="1400"/>
              <a:t>构建可视化图表，展示收支趋势与资产分布。</a:t>
            </a:r>
            <a:endParaRPr lang="zh-CN" altLang="en-US" sz="1400"/>
          </a:p>
          <a:p>
            <a:endParaRPr lang="en-US" altLang="zh-CN" sz="1400"/>
          </a:p>
          <a:p>
            <a:r>
              <a:rPr lang="zh-CN" altLang="en-US" sz="1400" b="1"/>
              <a:t>5.封装</a:t>
            </a:r>
            <a:r>
              <a:rPr lang="en-US" altLang="zh-CN" sz="1400" b="1"/>
              <a:t>API</a:t>
            </a:r>
            <a:r>
              <a:rPr lang="zh-CN" altLang="en-US" sz="1400" b="1"/>
              <a:t>模块</a:t>
            </a:r>
            <a:endParaRPr lang="en-US" altLang="zh-CN" sz="1400" b="1"/>
          </a:p>
          <a:p>
            <a:r>
              <a:rPr lang="zh-CN" altLang="en-US" sz="1400"/>
              <a:t>封装12个</a:t>
            </a:r>
            <a:r>
              <a:rPr lang="en-US" altLang="zh-CN" sz="1400"/>
              <a:t>API</a:t>
            </a:r>
            <a:r>
              <a:rPr lang="zh-CN" altLang="en-US" sz="1400"/>
              <a:t>服务模块，统一请求处理逻辑。</a:t>
            </a:r>
            <a:endParaRPr lang="zh-CN" altLang="en-US" sz="1400"/>
          </a:p>
          <a:p>
            <a:endParaRPr lang="en-US" altLang="zh-CN" sz="1400"/>
          </a:p>
          <a:p>
            <a:r>
              <a:rPr lang="zh-CN" altLang="en-US" sz="1400" b="1"/>
              <a:t>6.支持交互筛选</a:t>
            </a:r>
            <a:endParaRPr lang="en-US" altLang="zh-CN" sz="1400" b="1"/>
          </a:p>
          <a:p>
            <a:r>
              <a:rPr lang="zh-CN" altLang="en-US" sz="1400"/>
              <a:t>实现图表交互功能，用户可按条件筛选数据。</a:t>
            </a:r>
            <a:endParaRPr lang="zh-CN" altLang="en-US" sz="1400"/>
          </a:p>
          <a:p>
            <a:endParaRPr lang="zh-CN" altLang="en-US" sz="1400"/>
          </a:p>
          <a:p>
            <a:r>
              <a:rPr lang="en-US" altLang="zh-CN" sz="1400" b="1"/>
              <a:t>7.</a:t>
            </a:r>
            <a:r>
              <a:rPr lang="zh-CN" altLang="en-US" sz="1400" b="1"/>
              <a:t>测试与</a:t>
            </a:r>
            <a:r>
              <a:rPr lang="en-US" altLang="zh-CN" sz="1400" b="1"/>
              <a:t>CI/CD</a:t>
            </a:r>
            <a:r>
              <a:rPr lang="zh-CN" altLang="en-US" sz="1400" b="1"/>
              <a:t>配置</a:t>
            </a:r>
            <a:endParaRPr lang="zh-CN" altLang="en-US" sz="1400" b="1"/>
          </a:p>
          <a:p>
            <a:r>
              <a:rPr lang="zh-CN" altLang="en-US" sz="1400"/>
              <a:t>前后端完成测试，提交代码自动</a:t>
            </a:r>
            <a:r>
              <a:rPr lang="zh-CN" altLang="en-US" sz="1400"/>
              <a:t>审查。</a:t>
            </a:r>
            <a:endParaRPr lang="zh-CN" alt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团队成员工作总结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34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786" r="1786"/>
          <a:stretch>
            <a:fillRect/>
          </a:stretch>
        </p:blipFill>
        <p:spPr>
          <a:xfrm>
            <a:off x="0" y="0"/>
            <a:ext cx="9144000" cy="533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1714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成员工作</a:t>
            </a: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zh-CN" altLang="en-US" sz="225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graphicFrame>
        <p:nvGraphicFramePr>
          <p:cNvPr id="27" name="表格 26"/>
          <p:cNvGraphicFramePr/>
          <p:nvPr/>
        </p:nvGraphicFramePr>
        <p:xfrm>
          <a:off x="328930" y="1600835"/>
          <a:ext cx="8603615" cy="318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5180"/>
                <a:gridCol w="652843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阶段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主要工作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前端</a:t>
                      </a:r>
                      <a:r>
                        <a:rPr lang="en-US" altLang="zh-CN"/>
                        <a:t>UI</a:t>
                      </a:r>
                      <a:r>
                        <a:rPr lang="zh-CN" altLang="en-US"/>
                        <a:t>设计落地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信息架构与核心页面交互、</a:t>
                      </a:r>
                      <a:r>
                        <a:rPr lang="zh-CN" altLang="en-US"/>
                        <a:t>前端效果图。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前端架构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Vue3+TS+Vite </a:t>
                      </a:r>
                      <a:r>
                        <a:rPr lang="zh-CN" altLang="en-US"/>
                        <a:t>工程化；路由与鉴权守卫；</a:t>
                      </a:r>
                      <a:r>
                        <a:rPr lang="en-US" altLang="zh-CN"/>
                        <a:t>Axios </a:t>
                      </a:r>
                      <a:r>
                        <a:rPr lang="zh-CN" altLang="en-US"/>
                        <a:t>封装与 </a:t>
                      </a:r>
                      <a:r>
                        <a:rPr lang="en-US" altLang="zh-CN"/>
                        <a:t>Token</a:t>
                      </a:r>
                      <a:r>
                        <a:rPr lang="zh-CN" altLang="en-US"/>
                        <a:t>、</a:t>
                      </a:r>
                      <a:r>
                        <a:rPr lang="zh-CN" altLang="en-US"/>
                        <a:t>前端目录结构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前端</a:t>
                      </a:r>
                      <a:r>
                        <a:rPr lang="en-US" altLang="zh-CN"/>
                        <a:t> API </a:t>
                      </a:r>
                      <a:r>
                        <a:rPr lang="zh-CN" altLang="en-US"/>
                        <a:t>部分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前端</a:t>
                      </a:r>
                      <a:r>
                        <a:rPr lang="en-US" altLang="zh-CN"/>
                        <a:t>API</a:t>
                      </a:r>
                      <a:r>
                        <a:rPr lang="zh-CN" altLang="en-US"/>
                        <a:t>设计、多模块 </a:t>
                      </a:r>
                      <a:r>
                        <a:rPr lang="en-US" altLang="zh-CN"/>
                        <a:t>src/api/* </a:t>
                      </a:r>
                      <a:r>
                        <a:rPr lang="zh-CN" altLang="en-US"/>
                        <a:t>与 </a:t>
                      </a:r>
                      <a:r>
                        <a:rPr lang="en-US" altLang="zh-CN"/>
                        <a:t>src/types/*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前端页面开发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认</a:t>
                      </a:r>
                      <a:r>
                        <a:rPr lang="zh-CN" altLang="en-US"/>
                        <a:t>证、仪表盘与图表、账户、交易流水与记一笔、预算等功能</a:t>
                      </a:r>
                      <a:r>
                        <a:rPr lang="zh-CN" altLang="en-US"/>
                        <a:t>页面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前端测试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Vitest：</a:t>
                      </a:r>
                      <a:r>
                        <a:rPr lang="zh-CN" altLang="en-US"/>
                        <a:t>组件、工具类、</a:t>
                      </a:r>
                      <a:r>
                        <a:rPr lang="en-US" altLang="zh-CN"/>
                        <a:t>Mock API、Pinia </a:t>
                      </a:r>
                      <a:r>
                        <a:rPr lang="zh-CN" altLang="en-US"/>
                        <a:t>等 39</a:t>
                      </a:r>
                      <a:r>
                        <a:rPr lang="en-US" altLang="zh-CN"/>
                        <a:t> </a:t>
                      </a:r>
                      <a:r>
                        <a:rPr lang="zh-CN" altLang="en-US"/>
                        <a:t>条用例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CI/CD</a:t>
                      </a:r>
                      <a:r>
                        <a:rPr lang="zh-CN" altLang="en-US"/>
                        <a:t>配置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ci.yml </a:t>
                      </a:r>
                      <a:r>
                        <a:rPr lang="zh-CN" altLang="en-US"/>
                        <a:t>前端 </a:t>
                      </a:r>
                      <a:r>
                        <a:rPr lang="en-US" altLang="zh-CN"/>
                        <a:t>Job、Codecov </a:t>
                      </a:r>
                      <a:r>
                        <a:rPr lang="zh-CN" altLang="en-US"/>
                        <a:t>上报、</a:t>
                      </a:r>
                      <a:r>
                        <a:rPr lang="en-US" altLang="zh-CN"/>
                        <a:t>README </a:t>
                      </a:r>
                      <a:r>
                        <a:rPr lang="zh-CN" altLang="en-US"/>
                        <a:t>徽章；</a:t>
                      </a:r>
                      <a:r>
                        <a:rPr lang="en-US" altLang="zh-CN"/>
                        <a:t>lint</a:t>
                      </a:r>
                      <a:r>
                        <a:rPr lang="zh-CN" altLang="en-US"/>
                        <a:t>门禁</a:t>
                      </a:r>
                      <a:r>
                        <a:rPr lang="zh-CN" altLang="en-US"/>
                        <a:t>等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328930" y="110236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曾昭祥负责</a:t>
            </a:r>
            <a:r>
              <a:rPr lang="zh-CN" altLang="en-US"/>
              <a:t>部分：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34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786" r="1786"/>
          <a:stretch>
            <a:fillRect/>
          </a:stretch>
        </p:blipFill>
        <p:spPr>
          <a:xfrm>
            <a:off x="0" y="0"/>
            <a:ext cx="9144000" cy="533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1714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成员工作</a:t>
            </a: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zh-CN" altLang="en-US" sz="225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graphicFrame>
        <p:nvGraphicFramePr>
          <p:cNvPr id="27" name="表格 26"/>
          <p:cNvGraphicFramePr/>
          <p:nvPr/>
        </p:nvGraphicFramePr>
        <p:xfrm>
          <a:off x="328930" y="1600835"/>
          <a:ext cx="8603615" cy="318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875"/>
                <a:gridCol w="642874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阶段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主要工作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用户研究 / 设计规范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目标用户、四大核心场景、竞品与差异化；颜色/字体/间距等 </a:t>
                      </a:r>
                      <a:r>
                        <a:rPr lang="en-US" altLang="zh-CN"/>
                        <a:t>Design Token </a:t>
                      </a:r>
                      <a:r>
                        <a:rPr lang="zh-CN" altLang="en-US"/>
                        <a:t>与可访问性要求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后端</a:t>
                      </a:r>
                      <a:r>
                        <a:rPr lang="zh-CN" altLang="en-US"/>
                        <a:t>架构与数据基座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FastAPI </a:t>
                      </a:r>
                      <a:r>
                        <a:rPr lang="zh-CN" altLang="en-US"/>
                        <a:t>分层结构、</a:t>
                      </a:r>
                      <a:r>
                        <a:rPr lang="en-US" altLang="zh-CN"/>
                        <a:t>Docker Compose（MySQL、Redis）</a:t>
                      </a:r>
                      <a:r>
                        <a:rPr lang="zh-CN" altLang="en-US"/>
                        <a:t>与初始化脚本。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后端</a:t>
                      </a:r>
                      <a:r>
                        <a:rPr lang="en-US" altLang="zh-CN"/>
                        <a:t> API </a:t>
                      </a:r>
                      <a:r>
                        <a:rPr lang="zh-CN" altLang="en-US"/>
                        <a:t>部分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分类/账户等路由与 </a:t>
                      </a:r>
                      <a:r>
                        <a:rPr lang="en-US" altLang="zh-CN"/>
                        <a:t>Schema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后端核心业务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认证、分类、账户、交易、预算、统计、健康检查等；</a:t>
                      </a:r>
                      <a:r>
                        <a:rPr lang="en-US" altLang="zh-CN"/>
                        <a:t>Pydantic Schema </a:t>
                      </a:r>
                      <a:r>
                        <a:rPr lang="zh-CN" altLang="en-US"/>
                        <a:t>体系；</a:t>
                      </a:r>
                      <a:r>
                        <a:rPr lang="en-US" altLang="zh-CN"/>
                        <a:t>pytest </a:t>
                      </a:r>
                      <a:r>
                        <a:rPr lang="zh-CN" altLang="en-US"/>
                        <a:t>测试及 </a:t>
                      </a:r>
                      <a:r>
                        <a:rPr lang="en-US" altLang="zh-CN"/>
                        <a:t>Postman </a:t>
                      </a:r>
                      <a:r>
                        <a:rPr lang="zh-CN" altLang="en-US"/>
                        <a:t>集合。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AI </a:t>
                      </a:r>
                      <a:r>
                        <a:rPr lang="zh-CN" altLang="en-US"/>
                        <a:t>服务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AIService </a:t>
                      </a:r>
                      <a:r>
                        <a:rPr lang="zh-CN" altLang="en-US"/>
                        <a:t>规则 + </a:t>
                      </a:r>
                      <a:r>
                        <a:rPr lang="en-US" altLang="zh-CN"/>
                        <a:t>LLM、</a:t>
                      </a:r>
                      <a:r>
                        <a:rPr lang="zh-CN" altLang="en-US"/>
                        <a:t>理财建议、缓存与降级</a:t>
                      </a:r>
                      <a:r>
                        <a:rPr lang="zh-CN" altLang="en-US"/>
                        <a:t>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后端测试与</a:t>
                      </a:r>
                      <a:r>
                        <a:rPr lang="en-US" altLang="zh-CN"/>
                        <a:t>CI/CD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提醒、报告、</a:t>
                      </a:r>
                      <a:r>
                        <a:rPr lang="en-US" altLang="zh-CN"/>
                        <a:t>AI </a:t>
                      </a:r>
                      <a:r>
                        <a:rPr lang="zh-CN" altLang="en-US"/>
                        <a:t>等 </a:t>
                      </a:r>
                      <a:r>
                        <a:rPr lang="en-US" altLang="zh-CN"/>
                        <a:t>API </a:t>
                      </a:r>
                      <a:r>
                        <a:rPr lang="zh-CN" altLang="en-US"/>
                        <a:t>测试在统一 </a:t>
                      </a:r>
                      <a:r>
                        <a:rPr lang="en-US" altLang="zh-CN"/>
                        <a:t>ci.yml </a:t>
                      </a:r>
                      <a:r>
                        <a:rPr lang="zh-CN" altLang="en-US"/>
                        <a:t>中增加 </a:t>
                      </a:r>
                      <a:r>
                        <a:rPr lang="en-US" altLang="zh-CN"/>
                        <a:t>backend Job：uv、ruff、pytest + coverage、Codecov backend flag；pyproject </a:t>
                      </a:r>
                      <a:r>
                        <a:rPr lang="zh-CN" altLang="en-US"/>
                        <a:t>测试与覆盖率配置。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328930" y="110236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陈伟</a:t>
            </a:r>
            <a:r>
              <a:rPr lang="zh-CN" altLang="en-US"/>
              <a:t>栋负责</a:t>
            </a:r>
            <a:r>
              <a:rPr lang="zh-CN" altLang="en-US"/>
              <a:t>部分：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3462337"/>
            <a:ext cx="800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1133</Words>
  <Application>WPS 演示</Application>
  <PresentationFormat>On-screen Show (16:9)</PresentationFormat>
  <Paragraphs>141</Paragraphs>
  <Slides>8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Open Sans</vt:lpstr>
      <vt:lpstr>SWAstro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WPS_1692927348</cp:lastModifiedBy>
  <cp:revision>8</cp:revision>
  <dcterms:created xsi:type="dcterms:W3CDTF">2026-05-12T14:38:00Z</dcterms:created>
  <dcterms:modified xsi:type="dcterms:W3CDTF">2026-05-12T17:01:21Z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E86DA9A6380741C88D466A4C89F04862_13</vt:lpwstr>
  </property>
  <property fmtid="{D5CDD505-2E9C-101B-9397-08002B2CF9AE}" pid="3" name="KSOProductBuildVer">
    <vt:lpwstr>2052-12.1.0.25865</vt:lpwstr>
  </property>
</Properties>
</file>